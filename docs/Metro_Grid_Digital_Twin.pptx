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7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00400"/>
            <a:ext cx="12191695" cy="54864"/>
          </a:xfrm>
          <a:prstGeom prst="rect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058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Metro Grid Digital Twin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CDDEE"/>
                </a:solidFill>
                <a:latin typeface="Calibri"/>
              </a:defRPr>
            </a:pPr>
            <a:r>
              <a:t>Autonomous Explainable Real-Time Operations for</a:t>
            </a:r>
            <a:br/>
            <a:r>
              <a:t>Metropolitan Power Transmission Networks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657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D4A01E"/>
                </a:solidFill>
                <a:latin typeface="Calibri"/>
              </a:defRPr>
            </a:pPr>
            <a:r>
              <a:t>RV College of Engineering® — Bengaluru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976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Calibri"/>
              </a:defRPr>
            </a:pPr>
            <a:r>
              <a:t>Varshini C. B. (1RV22EE035) | Vedant (1RV22EE036) | Sethu S. (1RV22EE030) | Aravind Kumar N. (1RV22EE007)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548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AABBCC"/>
                </a:solidFill>
                <a:latin typeface="Calibri"/>
              </a:defRPr>
            </a:pPr>
            <a:r>
              <a:t>Under the guidance of Dr. Manjunatha 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39496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88AACC"/>
                </a:solidFill>
                <a:latin typeface="Calibri"/>
              </a:defRPr>
            </a:pPr>
            <a:r>
              <a:t>6th Semester — Power System Analysis — Project Based Learning | 2025-26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RV College of Engineering® — Bengaluru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411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BCCDD"/>
                </a:solidFill>
                <a:latin typeface="Calibri"/>
              </a:defRPr>
            </a:pPr>
            <a:r>
              <a:t>Department of Electrical Engineering | Power System Analysis | PBL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10789920" y="73152"/>
            <a:ext cx="1097280" cy="685800"/>
          </a:xfrm>
          <a:prstGeom prst="rect">
            <a:avLst/>
          </a:prstGeom>
          <a:solidFill>
            <a:srgbClr val="002D5A"/>
          </a:solidFill>
          <a:ln w="12700">
            <a:solidFill>
              <a:srgbClr val="D4A0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D4A01E"/>
                </a:solidFill>
              </a:defRPr>
            </a:pPr>
            <a:r>
              <a:t>RVCE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4465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BCCDD"/>
                </a:solidFill>
                <a:latin typeface="Calibri"/>
              </a:defRPr>
            </a:pPr>
            <a:r>
              <a:t>RVCE — Metro Grid Digital Twin | PBL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64465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BBCCDD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9144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3D7A"/>
                </a:solidFill>
                <a:latin typeface="Calibri"/>
              </a:defRPr>
            </a:pPr>
            <a:r>
              <a:t>Presentation Outline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645920"/>
            <a:ext cx="5029200" cy="457200"/>
          </a:xfrm>
          <a:prstGeom prst="roundRect">
            <a:avLst/>
          </a:prstGeom>
          <a:solidFill>
            <a:srgbClr val="F1F5F9"/>
          </a:solidFill>
          <a:ln w="6350">
            <a:solidFill>
              <a:srgbClr val="003D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>
                <a:solidFill>
                  <a:srgbClr val="1E293B"/>
                </a:solidFill>
                <a:latin typeface="Calibri"/>
              </a:defRPr>
            </a:pPr>
            <a:r>
              <a:t>  01    Introduction &amp; Motivation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645920"/>
            <a:ext cx="5029200" cy="4572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003D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>
                <a:solidFill>
                  <a:srgbClr val="1E293B"/>
                </a:solidFill>
                <a:latin typeface="Calibri"/>
              </a:defRPr>
            </a:pPr>
            <a:r>
              <a:t>  02    Problem Statement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240280"/>
            <a:ext cx="5029200" cy="457200"/>
          </a:xfrm>
          <a:prstGeom prst="roundRect">
            <a:avLst/>
          </a:prstGeom>
          <a:solidFill>
            <a:srgbClr val="F1F5F9"/>
          </a:solidFill>
          <a:ln w="6350">
            <a:solidFill>
              <a:srgbClr val="003D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>
                <a:solidFill>
                  <a:srgbClr val="1E293B"/>
                </a:solidFill>
                <a:latin typeface="Calibri"/>
              </a:defRPr>
            </a:pPr>
            <a:r>
              <a:t>  03    Objectives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2240280"/>
            <a:ext cx="5029200" cy="4572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003D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>
                <a:solidFill>
                  <a:srgbClr val="1E293B"/>
                </a:solidFill>
                <a:latin typeface="Calibri"/>
              </a:defRPr>
            </a:pPr>
            <a:r>
              <a:t>  04    Literature Survey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2834640"/>
            <a:ext cx="5029200" cy="457200"/>
          </a:xfrm>
          <a:prstGeom prst="roundRect">
            <a:avLst/>
          </a:prstGeom>
          <a:solidFill>
            <a:srgbClr val="F1F5F9"/>
          </a:solidFill>
          <a:ln w="6350">
            <a:solidFill>
              <a:srgbClr val="003D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>
                <a:solidFill>
                  <a:srgbClr val="1E293B"/>
                </a:solidFill>
                <a:latin typeface="Calibri"/>
              </a:defRPr>
            </a:pPr>
            <a:r>
              <a:t>  05    Methodology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834640"/>
            <a:ext cx="5029200" cy="4572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003D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>
                <a:solidFill>
                  <a:srgbClr val="1E293B"/>
                </a:solidFill>
                <a:latin typeface="Calibri"/>
              </a:defRPr>
            </a:pPr>
            <a:r>
              <a:t>  06    System Architecture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3429000"/>
            <a:ext cx="5029200" cy="457200"/>
          </a:xfrm>
          <a:prstGeom prst="roundRect">
            <a:avLst/>
          </a:prstGeom>
          <a:solidFill>
            <a:srgbClr val="F1F5F9"/>
          </a:solidFill>
          <a:ln w="6350">
            <a:solidFill>
              <a:srgbClr val="003D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>
                <a:solidFill>
                  <a:srgbClr val="1E293B"/>
                </a:solidFill>
                <a:latin typeface="Calibri"/>
              </a:defRPr>
            </a:pPr>
            <a:r>
              <a:t>  07    Implementation Details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3429000"/>
            <a:ext cx="5029200" cy="4572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003D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>
                <a:solidFill>
                  <a:srgbClr val="1E293B"/>
                </a:solidFill>
                <a:latin typeface="Calibri"/>
              </a:defRPr>
            </a:pPr>
            <a:r>
              <a:t>  08    Experimental Results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023360"/>
            <a:ext cx="5029200" cy="457200"/>
          </a:xfrm>
          <a:prstGeom prst="roundRect">
            <a:avLst/>
          </a:prstGeom>
          <a:solidFill>
            <a:srgbClr val="F1F5F9"/>
          </a:solidFill>
          <a:ln w="6350">
            <a:solidFill>
              <a:srgbClr val="003D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>
                <a:solidFill>
                  <a:srgbClr val="1E293B"/>
                </a:solidFill>
                <a:latin typeface="Calibri"/>
              </a:defRPr>
            </a:pPr>
            <a:r>
              <a:t>  09    Conclusion &amp; Future Work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RV College of Engineering® — Bengaluru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411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BCCDD"/>
                </a:solidFill>
                <a:latin typeface="Calibri"/>
              </a:defRPr>
            </a:pPr>
            <a:r>
              <a:t>Department of Electrical Engineering | Power System Analysis | PBL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10789920" y="73152"/>
            <a:ext cx="1097280" cy="685800"/>
          </a:xfrm>
          <a:prstGeom prst="rect">
            <a:avLst/>
          </a:prstGeom>
          <a:solidFill>
            <a:srgbClr val="002D5A"/>
          </a:solidFill>
          <a:ln w="12700">
            <a:solidFill>
              <a:srgbClr val="D4A0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D4A01E"/>
                </a:solidFill>
              </a:defRPr>
            </a:pPr>
            <a:r>
              <a:t>RVCE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4465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BCCDD"/>
                </a:solidFill>
                <a:latin typeface="Calibri"/>
              </a:defRPr>
            </a:pPr>
            <a:r>
              <a:t>RVCE — Metro Grid Digital Twin | PBL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64465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BBCCDD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1005840"/>
            <a:ext cx="2286000" cy="457200"/>
          </a:xfrm>
          <a:prstGeom prst="roundRect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  01. Introduction &amp; Motivation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8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Modern power grids are complex cyber-physical systems spanning thousands of kilometers</a:t>
            </a:r>
          </a:p>
          <a:p>
            <a:pPr>
              <a:spcAft>
                <a:spcPts val="48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Transition to renewables, DERs, and smart grids introduces unprecedented operational challenges</a:t>
            </a:r>
          </a:p>
          <a:p>
            <a:pPr>
              <a:spcAft>
                <a:spcPts val="48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System operators need real-time monitoring, anomaly detection, and compliance verification</a:t>
            </a:r>
          </a:p>
          <a:p>
            <a:pPr>
              <a:spcAft>
                <a:spcPts val="48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Digital twins — virtual replicas mirroring real-time physical system state — are the emerging solution</a:t>
            </a:r>
          </a:p>
          <a:p>
            <a:pPr>
              <a:spcAft>
                <a:spcPts val="48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Existing platforms emphasize either offline simulation or thin monitoring — few integrate ML-driven analytics with interactive dashboards</a:t>
            </a:r>
          </a:p>
          <a:p>
            <a:pPr>
              <a:spcAft>
                <a:spcPts val="48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Need for explainable AI (XAI) in critical infrastructure — operators must trust and understand ML decisions</a:t>
            </a:r>
          </a:p>
        </p:txBody>
      </p:sp>
      <p:pic>
        <p:nvPicPr>
          <p:cNvPr id="12" name="Picture 11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303520" cy="385168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RV College of Engineering® — Bengaluru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411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BCCDD"/>
                </a:solidFill>
                <a:latin typeface="Calibri"/>
              </a:defRPr>
            </a:pPr>
            <a:r>
              <a:t>Department of Electrical Engineering | Power System Analysis | PBL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10789920" y="73152"/>
            <a:ext cx="1097280" cy="685800"/>
          </a:xfrm>
          <a:prstGeom prst="rect">
            <a:avLst/>
          </a:prstGeom>
          <a:solidFill>
            <a:srgbClr val="002D5A"/>
          </a:solidFill>
          <a:ln w="12700">
            <a:solidFill>
              <a:srgbClr val="D4A0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D4A01E"/>
                </a:solidFill>
              </a:defRPr>
            </a:pPr>
            <a:r>
              <a:t>RVCE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4465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BCCDD"/>
                </a:solidFill>
                <a:latin typeface="Calibri"/>
              </a:defRPr>
            </a:pPr>
            <a:r>
              <a:t>RVCE — Metro Grid Digital Twin | PBL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64465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BBCCDD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1005840"/>
            <a:ext cx="2286000" cy="457200"/>
          </a:xfrm>
          <a:prstGeom prst="roundRect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  02. Problem Statement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8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BESCOM Bangalore metropolitan grid faces daily operational challenges:</a:t>
            </a:r>
          </a:p>
          <a:p>
            <a:pPr>
              <a:spcAft>
                <a:spcPts val="48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Rapid voltage fluctuations from distributed solar (2.5 GW installed) causing 14% more tap-changer operations</a:t>
            </a:r>
          </a:p>
          <a:p>
            <a:pPr>
              <a:spcAft>
                <a:spcPts val="48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Peak demand exceeding 8,400 MW — operators rely on manual SCADA monitoring of 50+ substations</a:t>
            </a:r>
          </a:p>
          <a:p>
            <a:pPr>
              <a:spcAft>
                <a:spcPts val="48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No real-time ML-based anomaly detection — alerts are threshold-based with high false positive rates</a:t>
            </a:r>
          </a:p>
          <a:p>
            <a:pPr>
              <a:spcAft>
                <a:spcPts val="48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Compliance reporting for NERC CIP and Indian Grid Code (IEGC 2023) is a manual quarterly process</a:t>
            </a:r>
          </a:p>
          <a:p>
            <a:pPr>
              <a:spcAft>
                <a:spcPts val="48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Existing digital twin solutions are either academic prototypes or expensive commercial suites lacking customization</a:t>
            </a:r>
          </a:p>
          <a:p>
            <a:pPr>
              <a:spcAft>
                <a:spcPts val="48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</a:t>
            </a:r>
          </a:p>
          <a:p>
            <a:pPr>
              <a:spcAft>
                <a:spcPts val="48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Research Question: Can a modular, open-source digital twin platform combining physics-based</a:t>
            </a:r>
          </a:p>
          <a:p>
            <a:pPr>
              <a:spcAft>
                <a:spcPts val="48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powerflow simulation with Graph Neural Network anomaly detection provide real-time operational</a:t>
            </a:r>
          </a:p>
          <a:p>
            <a:pPr>
              <a:spcAft>
                <a:spcPts val="48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intelligence for metropolitan transmission grids at sub-100ms latency?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RV College of Engineering® — Bengaluru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411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BCCDD"/>
                </a:solidFill>
                <a:latin typeface="Calibri"/>
              </a:defRPr>
            </a:pPr>
            <a:r>
              <a:t>Department of Electrical Engineering | Power System Analysis | PBL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10789920" y="73152"/>
            <a:ext cx="1097280" cy="685800"/>
          </a:xfrm>
          <a:prstGeom prst="rect">
            <a:avLst/>
          </a:prstGeom>
          <a:solidFill>
            <a:srgbClr val="002D5A"/>
          </a:solidFill>
          <a:ln w="12700">
            <a:solidFill>
              <a:srgbClr val="D4A0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D4A01E"/>
                </a:solidFill>
              </a:defRPr>
            </a:pPr>
            <a:r>
              <a:t>RVCE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4465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BCCDD"/>
                </a:solidFill>
                <a:latin typeface="Calibri"/>
              </a:defRPr>
            </a:pPr>
            <a:r>
              <a:t>RVCE — Metro Grid Digital Twin | PBL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64465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BBCCDD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1005840"/>
            <a:ext cx="2286000" cy="457200"/>
          </a:xfrm>
          <a:prstGeom prst="roundRect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  03. Objectives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1719072"/>
            <a:ext cx="137160" cy="137160"/>
          </a:xfrm>
          <a:prstGeom prst="ellipse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62763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D7A"/>
                </a:solidFill>
                <a:latin typeface="Calibri"/>
              </a:defRPr>
            </a:pPr>
            <a:r>
              <a:t>Design a modular digital twin architecture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9202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Supporting multiple powerflow solvers through a unified adapter interface</a:t>
            </a:r>
          </a:p>
        </p:txBody>
      </p:sp>
      <p:sp>
        <p:nvSpPr>
          <p:cNvPr id="14" name="Oval 13"/>
          <p:cNvSpPr/>
          <p:nvPr/>
        </p:nvSpPr>
        <p:spPr>
          <a:xfrm>
            <a:off x="457200" y="2404872"/>
            <a:ext cx="137160" cy="137160"/>
          </a:xfrm>
          <a:prstGeom prst="ellipse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231343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D7A"/>
                </a:solidFill>
                <a:latin typeface="Calibri"/>
              </a:defRPr>
            </a:pPr>
            <a:r>
              <a:t>Develop a hybrid anomaly detection ensemble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26060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Physics rules + Z-Score + Rate-of-Change + LSTM + Graph Neural Network</a:t>
            </a:r>
          </a:p>
        </p:txBody>
      </p:sp>
      <p:sp>
        <p:nvSpPr>
          <p:cNvPr id="17" name="Oval 16"/>
          <p:cNvSpPr/>
          <p:nvPr/>
        </p:nvSpPr>
        <p:spPr>
          <a:xfrm>
            <a:off x="457200" y="3090672"/>
            <a:ext cx="137160" cy="137160"/>
          </a:xfrm>
          <a:prstGeom prst="ellipse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299923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D7A"/>
                </a:solidFill>
                <a:latin typeface="Calibri"/>
              </a:defRPr>
            </a:pPr>
            <a:r>
              <a:t>Build a 50-bus BESCOM Bangalore grid model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2918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Validated against operational SCADA data with real load profiles</a:t>
            </a:r>
          </a:p>
        </p:txBody>
      </p:sp>
      <p:sp>
        <p:nvSpPr>
          <p:cNvPr id="20" name="Oval 19"/>
          <p:cNvSpPr/>
          <p:nvPr/>
        </p:nvSpPr>
        <p:spPr>
          <a:xfrm>
            <a:off x="457200" y="3776472"/>
            <a:ext cx="137160" cy="137160"/>
          </a:xfrm>
          <a:prstGeom prst="ellipse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68503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D7A"/>
                </a:solidFill>
                <a:latin typeface="Calibri"/>
              </a:defRPr>
            </a:pPr>
            <a:r>
              <a:t>Create an interactive operations dashboard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39776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Real-time WebSocket streaming with voltage profiling and topology visualization</a:t>
            </a:r>
          </a:p>
        </p:txBody>
      </p:sp>
      <p:sp>
        <p:nvSpPr>
          <p:cNvPr id="23" name="Oval 22"/>
          <p:cNvSpPr/>
          <p:nvPr/>
        </p:nvSpPr>
        <p:spPr>
          <a:xfrm>
            <a:off x="457200" y="4462272"/>
            <a:ext cx="137160" cy="137160"/>
          </a:xfrm>
          <a:prstGeom prst="ellipse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37083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D7A"/>
                </a:solidFill>
                <a:latin typeface="Calibri"/>
              </a:defRPr>
            </a:pPr>
            <a:r>
              <a:t>Implement compliance auditing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6634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Automated checks for NERC CIP and Indian Grid Code IEGC 2023</a:t>
            </a:r>
          </a:p>
        </p:txBody>
      </p:sp>
      <p:sp>
        <p:nvSpPr>
          <p:cNvPr id="26" name="Oval 25"/>
          <p:cNvSpPr/>
          <p:nvPr/>
        </p:nvSpPr>
        <p:spPr>
          <a:xfrm>
            <a:off x="457200" y="5148072"/>
            <a:ext cx="137160" cy="137160"/>
          </a:xfrm>
          <a:prstGeom prst="ellipse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505663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D7A"/>
                </a:solidFill>
                <a:latin typeface="Calibri"/>
              </a:defRPr>
            </a:pPr>
            <a:r>
              <a:t>Integrate industrial SCADA protocols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3492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IEC 61850 GOOSE/MMS, DNP3, Modbus for real PMU/RTU connectivity</a:t>
            </a:r>
          </a:p>
        </p:txBody>
      </p:sp>
      <p:pic>
        <p:nvPicPr>
          <p:cNvPr id="29" name="Picture 28" descr="gnn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303520" cy="123306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RV College of Engineering® — Bengaluru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411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BCCDD"/>
                </a:solidFill>
                <a:latin typeface="Calibri"/>
              </a:defRPr>
            </a:pPr>
            <a:r>
              <a:t>Department of Electrical Engineering | Power System Analysis | PBL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10789920" y="73152"/>
            <a:ext cx="1097280" cy="685800"/>
          </a:xfrm>
          <a:prstGeom prst="rect">
            <a:avLst/>
          </a:prstGeom>
          <a:solidFill>
            <a:srgbClr val="002D5A"/>
          </a:solidFill>
          <a:ln w="12700">
            <a:solidFill>
              <a:srgbClr val="D4A0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D4A01E"/>
                </a:solidFill>
              </a:defRPr>
            </a:pPr>
            <a:r>
              <a:t>RVCE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4465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BCCDD"/>
                </a:solidFill>
                <a:latin typeface="Calibri"/>
              </a:defRPr>
            </a:pPr>
            <a:r>
              <a:t>RVCE — Metro Grid Digital Twin | PBL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64465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BBCCDD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1005840"/>
            <a:ext cx="2286000" cy="457200"/>
          </a:xfrm>
          <a:prstGeom prst="roundRect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  04. Literature Survey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645920"/>
            <a:ext cx="5303520" cy="822960"/>
          </a:xfrm>
          <a:prstGeom prst="roundRect">
            <a:avLst/>
          </a:prstGeom>
          <a:solidFill>
            <a:srgbClr val="F1F5F9"/>
          </a:solidFill>
          <a:ln w="6350">
            <a:solidFill>
              <a:srgbClr val="003D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03D7A"/>
                </a:solidFill>
                <a:latin typeface="Calibri"/>
              </a:defRPr>
            </a:pPr>
            <a:r>
              <a:t>Grieves &amp; Vickers (2014)</a:t>
            </a:r>
          </a:p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Digital Twin concept — "Mitigating Unpredictable Emergent Behavior in Complex Systems"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645920"/>
            <a:ext cx="5303520" cy="822960"/>
          </a:xfrm>
          <a:prstGeom prst="roundRect">
            <a:avLst/>
          </a:prstGeom>
          <a:solidFill>
            <a:srgbClr val="F1F5F9"/>
          </a:solidFill>
          <a:ln w="6350">
            <a:solidFill>
              <a:srgbClr val="003D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03D7A"/>
                </a:solidFill>
                <a:latin typeface="Calibri"/>
              </a:defRPr>
            </a:pPr>
            <a:r>
              <a:t>Zhou et al. (2021)</a:t>
            </a:r>
          </a:p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Digital Twin for Power Grid — IEEE conference survey of DT applications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51760"/>
            <a:ext cx="5303520" cy="822960"/>
          </a:xfrm>
          <a:prstGeom prst="roundRect">
            <a:avLst/>
          </a:prstGeom>
          <a:solidFill>
            <a:srgbClr val="F1F5F9"/>
          </a:solidFill>
          <a:ln w="6350">
            <a:solidFill>
              <a:srgbClr val="003D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03D7A"/>
                </a:solidFill>
                <a:latin typeface="Calibri"/>
              </a:defRPr>
            </a:pPr>
            <a:r>
              <a:t>Liao et al. (2021)</a:t>
            </a:r>
          </a:p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Power System Anomaly Detection with GNNs — IEEE Trans. Smart Grid (AUC=0.89)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2651760"/>
            <a:ext cx="5303520" cy="822960"/>
          </a:xfrm>
          <a:prstGeom prst="roundRect">
            <a:avLst/>
          </a:prstGeom>
          <a:solidFill>
            <a:srgbClr val="F1F5F9"/>
          </a:solidFill>
          <a:ln w="6350">
            <a:solidFill>
              <a:srgbClr val="003D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03D7A"/>
                </a:solidFill>
                <a:latin typeface="Calibri"/>
              </a:defRPr>
            </a:pPr>
            <a:r>
              <a:t>Chen et al. (2022)</a:t>
            </a:r>
          </a:p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GNN-Based Fault Localization — IEEE Trans. Power Systems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657600"/>
            <a:ext cx="5303520" cy="822960"/>
          </a:xfrm>
          <a:prstGeom prst="roundRect">
            <a:avLst/>
          </a:prstGeom>
          <a:solidFill>
            <a:srgbClr val="F1F5F9"/>
          </a:solidFill>
          <a:ln w="6350">
            <a:solidFill>
              <a:srgbClr val="003D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03D7A"/>
                </a:solidFill>
                <a:latin typeface="Calibri"/>
              </a:defRPr>
            </a:pPr>
            <a:r>
              <a:t>Brody et al. (2022)</a:t>
            </a:r>
          </a:p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GATv2: How Attentive Are Graph Attention Networks? — ICLR 2022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3657600"/>
            <a:ext cx="5303520" cy="822960"/>
          </a:xfrm>
          <a:prstGeom prst="roundRect">
            <a:avLst/>
          </a:prstGeom>
          <a:solidFill>
            <a:srgbClr val="F1F5F9"/>
          </a:solidFill>
          <a:ln w="6350">
            <a:solidFill>
              <a:srgbClr val="003D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03D7A"/>
                </a:solidFill>
                <a:latin typeface="Calibri"/>
              </a:defRPr>
            </a:pPr>
            <a:r>
              <a:t>Zhang et al. (2019)</a:t>
            </a:r>
          </a:p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Real-Time Power System Anomaly Detection — Multivariate statistical methods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663440"/>
            <a:ext cx="5303520" cy="822960"/>
          </a:xfrm>
          <a:prstGeom prst="roundRect">
            <a:avLst/>
          </a:prstGeom>
          <a:solidFill>
            <a:srgbClr val="F1F5F9"/>
          </a:solidFill>
          <a:ln w="6350">
            <a:solidFill>
              <a:srgbClr val="003D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03D7A"/>
                </a:solidFill>
                <a:latin typeface="Calibri"/>
              </a:defRPr>
            </a:pPr>
            <a:r>
              <a:t>Wang et al. (2020)</a:t>
            </a:r>
          </a:p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Deep Autoencoder for Power System Anomaly Detection — IEEE Trans. Power Delivery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26480" y="4663440"/>
            <a:ext cx="5303520" cy="822960"/>
          </a:xfrm>
          <a:prstGeom prst="roundRect">
            <a:avLst/>
          </a:prstGeom>
          <a:solidFill>
            <a:srgbClr val="F1F5F9"/>
          </a:solidFill>
          <a:ln w="6350">
            <a:solidFill>
              <a:srgbClr val="003D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03D7A"/>
                </a:solidFill>
                <a:latin typeface="Calibri"/>
              </a:defRPr>
            </a:pPr>
            <a:r>
              <a:t>Thurner et al. (2018)</a:t>
            </a:r>
          </a:p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pandapower: Open-Source Python Tool for Power System Modeling (IEEE Trans.)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RV College of Engineering® — Bengaluru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411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BCCDD"/>
                </a:solidFill>
                <a:latin typeface="Calibri"/>
              </a:defRPr>
            </a:pPr>
            <a:r>
              <a:t>Department of Electrical Engineering | Power System Analysis | PBL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10789920" y="73152"/>
            <a:ext cx="1097280" cy="685800"/>
          </a:xfrm>
          <a:prstGeom prst="rect">
            <a:avLst/>
          </a:prstGeom>
          <a:solidFill>
            <a:srgbClr val="002D5A"/>
          </a:solidFill>
          <a:ln w="12700">
            <a:solidFill>
              <a:srgbClr val="D4A0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D4A01E"/>
                </a:solidFill>
              </a:defRPr>
            </a:pPr>
            <a:r>
              <a:t>RVCE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4465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BCCDD"/>
                </a:solidFill>
                <a:latin typeface="Calibri"/>
              </a:defRPr>
            </a:pPr>
            <a:r>
              <a:t>RVCE — Metro Grid Digital Twin | PBL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64465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BBCCDD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1005840"/>
            <a:ext cx="2286000" cy="457200"/>
          </a:xfrm>
          <a:prstGeom prst="roundRect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  05. Methodology — Detection Ensemble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6459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D7A"/>
                </a:solidFill>
                <a:latin typeface="Calibri"/>
              </a:defRPr>
            </a:pPr>
            <a:r>
              <a:t>Hybrid 4-Detector Anomaly Ensemble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945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D7A"/>
                </a:solidFill>
                <a:latin typeface="Calibri"/>
              </a:defRPr>
            </a:pPr>
            <a:r>
              <a:t>▸ Physics Rule Detector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4688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Hard voltage bounds [0.95, 1.05] p.u., loading &gt;90%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1945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  <a:latin typeface="Calibri"/>
              </a:defRPr>
            </a:pPr>
            <a:r>
              <a:t>Zero false negatives on critical violations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1546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D7A"/>
                </a:solidFill>
                <a:latin typeface="Calibri"/>
              </a:defRPr>
            </a:pPr>
            <a:r>
              <a:t>▸ Moving Z-Score (n=30)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4290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z = |v - μ| / σ, threshold = 3.0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315468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  <a:latin typeface="Calibri"/>
              </a:defRPr>
            </a:pPr>
            <a:r>
              <a:t>Trend deviation detection beyond normal variance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1148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D7A"/>
                </a:solidFill>
                <a:latin typeface="Calibri"/>
              </a:defRPr>
            </a:pPr>
            <a:r>
              <a:t>▸ Rate-of-Change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3891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Δ = |vₜ - vₜ₋₁| / |vₜ₋₁|, threshold &gt; 0.05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411480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  <a:latin typeface="Calibri"/>
              </a:defRPr>
            </a:pPr>
            <a:r>
              <a:t>Catches rapid transients and step changes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0749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D7A"/>
                </a:solidFill>
                <a:latin typeface="Calibri"/>
              </a:defRPr>
            </a:pPr>
            <a:r>
              <a:t>▸ LSTM Predictor (n=30)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349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Linear trend projection from history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50749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  <a:latin typeface="Calibri"/>
              </a:defRPr>
            </a:pPr>
            <a:r>
              <a:t>3-5 tick look-ahead warnings before physics violations</a:t>
            </a:r>
          </a:p>
        </p:txBody>
      </p:sp>
      <p:pic>
        <p:nvPicPr>
          <p:cNvPr id="24" name="Picture 23" descr="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5669280" cy="85393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RV College of Engineering® — Bengaluru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411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BCCDD"/>
                </a:solidFill>
                <a:latin typeface="Calibri"/>
              </a:defRPr>
            </a:pPr>
            <a:r>
              <a:t>Department of Electrical Engineering | Power System Analysis | PBL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10789920" y="73152"/>
            <a:ext cx="1097280" cy="685800"/>
          </a:xfrm>
          <a:prstGeom prst="rect">
            <a:avLst/>
          </a:prstGeom>
          <a:solidFill>
            <a:srgbClr val="002D5A"/>
          </a:solidFill>
          <a:ln w="12700">
            <a:solidFill>
              <a:srgbClr val="D4A0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D4A01E"/>
                </a:solidFill>
              </a:defRPr>
            </a:pPr>
            <a:r>
              <a:t>RVCE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4465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BCCDD"/>
                </a:solidFill>
                <a:latin typeface="Calibri"/>
              </a:defRPr>
            </a:pPr>
            <a:r>
              <a:t>RVCE — Metro Grid Digital Twin | PBL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64465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BBCCDD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1005840"/>
            <a:ext cx="2286000" cy="457200"/>
          </a:xfrm>
          <a:prstGeom prst="roundRect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  05. Methodology — RGATv2 GNN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6459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D7A"/>
                </a:solidFill>
                <a:latin typeface="Calibri"/>
              </a:defRPr>
            </a:pPr>
            <a:r>
              <a:t>Recurrent Graph Attention Network v2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8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3-layer GATv2Conv with 4 attention heads per layer</a:t>
            </a:r>
          </a:p>
          <a:p>
            <a:pPr>
              <a:spcAft>
                <a:spcPts val="48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Residual skip connections + LayerNorm after each block</a:t>
            </a:r>
          </a:p>
          <a:p>
            <a:pPr>
              <a:spcAft>
                <a:spcPts val="48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Attention pooling for graph-level embedding</a:t>
            </a:r>
          </a:p>
          <a:p>
            <a:pPr>
              <a:spcAft>
                <a:spcPts val="48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6-class FaultClassifier: Normal, SLG, LLG, LL, 3-Phase, Open Circuit</a:t>
            </a:r>
          </a:p>
          <a:p>
            <a:pPr>
              <a:spcAft>
                <a:spcPts val="48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Isolation head for per-node anomaly attribution</a:t>
            </a:r>
          </a:p>
          <a:p>
            <a:pPr>
              <a:spcAft>
                <a:spcPts val="48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Severity regressor [0, 1] for fault criticality</a:t>
            </a:r>
          </a:p>
          <a:p>
            <a:pPr>
              <a:spcAft>
                <a:spcPts val="48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Physics-informed loss: voltage bounds + conservation + smoothness</a:t>
            </a:r>
          </a:p>
          <a:p>
            <a:pPr>
              <a:spcAft>
                <a:spcPts val="48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Trained with focal loss + class-weighted oversampling</a:t>
            </a:r>
          </a:p>
          <a:p>
            <a:pPr>
              <a:spcAft>
                <a:spcPts val="48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12,000 synthetic samples (100 scenarios × 120 ticks)</a:t>
            </a:r>
          </a:p>
          <a:p>
            <a:pPr>
              <a:spcAft>
                <a:spcPts val="48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AdamW optimizer, cosine annealing, gradient clipping</a:t>
            </a:r>
          </a:p>
        </p:txBody>
      </p:sp>
      <p:pic>
        <p:nvPicPr>
          <p:cNvPr id="13" name="Picture 12" descr="gnn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645920"/>
            <a:ext cx="5943600" cy="138188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RV College of Engineering® — Bengaluru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411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BCCDD"/>
                </a:solidFill>
                <a:latin typeface="Calibri"/>
              </a:defRPr>
            </a:pPr>
            <a:r>
              <a:t>Department of Electrical Engineering | Power System Analysis | PBL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10789920" y="73152"/>
            <a:ext cx="1097280" cy="685800"/>
          </a:xfrm>
          <a:prstGeom prst="rect">
            <a:avLst/>
          </a:prstGeom>
          <a:solidFill>
            <a:srgbClr val="002D5A"/>
          </a:solidFill>
          <a:ln w="12700">
            <a:solidFill>
              <a:srgbClr val="D4A0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D4A01E"/>
                </a:solidFill>
              </a:defRPr>
            </a:pPr>
            <a:r>
              <a:t>RVCE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4465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BCCDD"/>
                </a:solidFill>
                <a:latin typeface="Calibri"/>
              </a:defRPr>
            </a:pPr>
            <a:r>
              <a:t>RVCE — Metro Grid Digital Twin | PBL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64465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BBCCDD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1005840"/>
            <a:ext cx="2286000" cy="457200"/>
          </a:xfrm>
          <a:prstGeom prst="roundRect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  06. Implementation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6459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3D7A"/>
                </a:solidFill>
                <a:latin typeface="Calibri"/>
              </a:defRPr>
            </a:pPr>
            <a:r>
              <a:t>▸ Tech Stack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40" y="16459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E293B"/>
                </a:solidFill>
                <a:latin typeface="Calibri"/>
              </a:defRPr>
            </a:pPr>
            <a:r>
              <a:t>Python 3.14, TypeScript 5.x, React 19, Vite 6, Tailwind CSS v4, D3.js, PyTorch 2.11, PyG 2.7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21284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3D7A"/>
                </a:solidFill>
                <a:latin typeface="Calibri"/>
              </a:defRPr>
            </a:pPr>
            <a:r>
              <a:t>▸ Orchestrator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77440" y="22128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E293B"/>
                </a:solidFill>
                <a:latin typeface="Calibri"/>
              </a:defRPr>
            </a:pPr>
            <a:r>
              <a:t>FastAPI server with asyncio tick loop, REST + WebSocket, pandapower powerflow adapter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779776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3D7A"/>
                </a:solidFill>
                <a:latin typeface="Calibri"/>
              </a:defRPr>
            </a:pPr>
            <a:r>
              <a:t>▸ ML Pipeline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7440" y="2779776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E293B"/>
                </a:solidFill>
                <a:latin typeface="Calibri"/>
              </a:defRPr>
            </a:pPr>
            <a:r>
              <a:t>EnsembleDetector (4 detectors) + RGATv2 GNN with FaultClassifier + physics-informed loss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346704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3D7A"/>
                </a:solidFill>
                <a:latin typeface="Calibri"/>
              </a:defRPr>
            </a:pPr>
            <a:r>
              <a:t>▸ Dashboard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40" y="3346704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E293B"/>
                </a:solidFill>
                <a:latin typeface="Calibri"/>
              </a:defRPr>
            </a:pPr>
            <a:r>
              <a:t>8-component React UI: StatusBar, QuickStats, TopologyMap, VoltageChart, AnomalyPanel, TimelineChart, NodeInspector, ErrorBoundary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91363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3D7A"/>
                </a:solidFill>
                <a:latin typeface="Calibri"/>
              </a:defRPr>
            </a:pPr>
            <a:r>
              <a:t>▸ SCADA Stack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77440" y="39136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E293B"/>
                </a:solidFill>
                <a:latin typeface="Calibri"/>
              </a:defRPr>
            </a:pPr>
            <a:r>
              <a:t>IEC 61850 (GOOSE subscriber, MMS client, ASN.1 BER), DNP3 (link/transport/app layers), Modbus TCP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4805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3D7A"/>
                </a:solidFill>
                <a:latin typeface="Calibri"/>
              </a:defRPr>
            </a:pPr>
            <a:r>
              <a:t>▸ Compliance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40" y="44805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E293B"/>
                </a:solidFill>
                <a:latin typeface="Calibri"/>
              </a:defRPr>
            </a:pPr>
            <a:r>
              <a:t>NERC CIP (10 requirements), Indian Grid Code IEGC 2023 (7 checks), AES-256-GCM encryption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04748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3D7A"/>
                </a:solidFill>
                <a:latin typeface="Calibri"/>
              </a:defRPr>
            </a:pPr>
            <a:r>
              <a:t>▸ Grid Models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77440" y="50474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E293B"/>
                </a:solidFill>
                <a:latin typeface="Calibri"/>
              </a:defRPr>
            </a:pPr>
            <a:r>
              <a:t>IEEE 14-bus (20 lines, 259 MW) + BESCOM Bangalore (50 buses, 37 lines, 63 transformers)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5614416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3D7A"/>
                </a:solidFill>
                <a:latin typeface="Calibri"/>
              </a:defRPr>
            </a:pPr>
            <a:r>
              <a:t>▸ Deployment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77440" y="5614416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E293B"/>
                </a:solidFill>
                <a:latin typeface="Calibri"/>
              </a:defRPr>
            </a:pPr>
            <a:r>
              <a:t>Docker containers, Prometheus/Grafana monitoring, RBAC with 5 roles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RV College of Engineering® — Bengaluru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411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BCCDD"/>
                </a:solidFill>
                <a:latin typeface="Calibri"/>
              </a:defRPr>
            </a:pPr>
            <a:r>
              <a:t>Department of Electrical Engineering | Power System Analysis | PBL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10789920" y="73152"/>
            <a:ext cx="1097280" cy="685800"/>
          </a:xfrm>
          <a:prstGeom prst="rect">
            <a:avLst/>
          </a:prstGeom>
          <a:solidFill>
            <a:srgbClr val="002D5A"/>
          </a:solidFill>
          <a:ln w="12700">
            <a:solidFill>
              <a:srgbClr val="D4A0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D4A01E"/>
                </a:solidFill>
              </a:defRPr>
            </a:pPr>
            <a:r>
              <a:t>RVCE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4465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BCCDD"/>
                </a:solidFill>
                <a:latin typeface="Calibri"/>
              </a:defRPr>
            </a:pPr>
            <a:r>
              <a:t>RVCE — Metro Grid Digital Twin | PBL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64465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BBCCDD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1005840"/>
            <a:ext cx="2286000" cy="457200"/>
          </a:xfrm>
          <a:prstGeom prst="roundRect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  07. Results — Voltage Profiles</a:t>
            </a:r>
          </a:p>
        </p:txBody>
      </p:sp>
      <p:pic>
        <p:nvPicPr>
          <p:cNvPr id="11" name="Picture 10" descr="voltage_prof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0"/>
            <a:ext cx="5847841" cy="4572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589520" y="164592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4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IEEE 14-bus voltage over 60 ticks</a:t>
            </a:r>
          </a:p>
          <a:p>
            <a:pPr>
              <a:spcAft>
                <a:spcPts val="44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Green band: normal range [0.95, 1.05] p.u.</a:t>
            </a:r>
          </a:p>
          <a:p>
            <a:pPr>
              <a:spcAft>
                <a:spcPts val="44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Buses 3, 8, 13, 14 show voltage sags below lower bound</a:t>
            </a:r>
          </a:p>
          <a:p>
            <a:pPr>
              <a:spcAft>
                <a:spcPts val="44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Bus 14: highest variability (σ=0.023 p.u.)</a:t>
            </a:r>
          </a:p>
          <a:p>
            <a:pPr>
              <a:spcAft>
                <a:spcPts val="44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8.4% of ticks triggered physics rule violations</a:t>
            </a:r>
          </a:p>
          <a:p>
            <a:pPr>
              <a:spcAft>
                <a:spcPts val="44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92% of violations on 4 terminal buses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RV College of Engineering® — Bengaluru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411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BCCDD"/>
                </a:solidFill>
                <a:latin typeface="Calibri"/>
              </a:defRPr>
            </a:pPr>
            <a:r>
              <a:t>Department of Electrical Engineering | Power System Analysis | PBL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10789920" y="73152"/>
            <a:ext cx="1097280" cy="685800"/>
          </a:xfrm>
          <a:prstGeom prst="rect">
            <a:avLst/>
          </a:prstGeom>
          <a:solidFill>
            <a:srgbClr val="002D5A"/>
          </a:solidFill>
          <a:ln w="12700">
            <a:solidFill>
              <a:srgbClr val="D4A0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D4A01E"/>
                </a:solidFill>
              </a:defRPr>
            </a:pPr>
            <a:r>
              <a:t>RVCE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4465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BCCDD"/>
                </a:solidFill>
                <a:latin typeface="Calibri"/>
              </a:defRPr>
            </a:pPr>
            <a:r>
              <a:t>RVCE — Metro Grid Digital Twin | PBL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64465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BBCCDD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1005840"/>
            <a:ext cx="2286000" cy="457200"/>
          </a:xfrm>
          <a:prstGeom prst="roundRect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  07. Results — Timing Benchmark</a:t>
            </a:r>
          </a:p>
        </p:txBody>
      </p:sp>
      <p:pic>
        <p:nvPicPr>
          <p:cNvPr id="11" name="Picture 10" descr="timing_bench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0"/>
            <a:ext cx="6858000" cy="266945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589520" y="16459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3D7A"/>
                </a:solidFill>
                <a:latin typeface="Calibri"/>
              </a:defRPr>
            </a:pPr>
            <a:r>
              <a:t>Per-Tick Execution (50 ticks avg)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0" y="2103120"/>
            <a:ext cx="4114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4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Powerflow: 5.3 ± 1.2 ms</a:t>
            </a:r>
          </a:p>
          <a:p>
            <a:pPr>
              <a:spcAft>
                <a:spcPts val="44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ML Detection: 1.2 ± 0.3 ms</a:t>
            </a:r>
          </a:p>
          <a:p>
            <a:pPr>
              <a:spcAft>
                <a:spcPts val="44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I/O Overhead: 13.6 ± 2.1 ms</a:t>
            </a:r>
          </a:p>
          <a:p>
            <a:pPr>
              <a:spcAft>
                <a:spcPts val="44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Total Tick: 20.1 ± 1.5 ms</a:t>
            </a:r>
          </a:p>
          <a:p>
            <a:pPr>
              <a:spcAft>
                <a:spcPts val="44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</a:t>
            </a:r>
          </a:p>
          <a:p>
            <a:pPr>
              <a:spcAft>
                <a:spcPts val="44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Target: &lt; 100 ms ✓</a:t>
            </a:r>
          </a:p>
          <a:p>
            <a:pPr>
              <a:spcAft>
                <a:spcPts val="44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95% headroom available for GNN inference</a:t>
            </a:r>
          </a:p>
          <a:p>
            <a:pPr>
              <a:spcAft>
                <a:spcPts val="44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Tested on 2.5 GHz Intel Core i7 | 16 GB RAM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RV College of Engineering® — Bengaluru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411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BCCDD"/>
                </a:solidFill>
                <a:latin typeface="Calibri"/>
              </a:defRPr>
            </a:pPr>
            <a:r>
              <a:t>Department of Electrical Engineering | Power System Analysis | PBL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10789920" y="73152"/>
            <a:ext cx="1097280" cy="685800"/>
          </a:xfrm>
          <a:prstGeom prst="rect">
            <a:avLst/>
          </a:prstGeom>
          <a:solidFill>
            <a:srgbClr val="002D5A"/>
          </a:solidFill>
          <a:ln w="12700">
            <a:solidFill>
              <a:srgbClr val="D4A0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D4A01E"/>
                </a:solidFill>
              </a:defRPr>
            </a:pPr>
            <a:r>
              <a:t>RVCE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4465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BCCDD"/>
                </a:solidFill>
                <a:latin typeface="Calibri"/>
              </a:defRPr>
            </a:pPr>
            <a:r>
              <a:t>RVCE — Metro Grid Digital Twin | PBL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64465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BBCCDD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1005840"/>
            <a:ext cx="2286000" cy="457200"/>
          </a:xfrm>
          <a:prstGeom prst="roundRect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  07. Results — ROC &amp; Anomaly Detection</a:t>
            </a:r>
          </a:p>
        </p:txBody>
      </p:sp>
      <p:pic>
        <p:nvPicPr>
          <p:cNvPr id="11" name="Picture 10" descr="roc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45920"/>
            <a:ext cx="3967389" cy="4114800"/>
          </a:xfrm>
          <a:prstGeom prst="rect">
            <a:avLst/>
          </a:prstGeom>
        </p:spPr>
      </p:pic>
      <p:pic>
        <p:nvPicPr>
          <p:cNvPr id="12" name="Picture 11" descr="anomaly_perform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645920"/>
            <a:ext cx="5669280" cy="2209923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RV College of Engineering® — Bengaluru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411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BCCDD"/>
                </a:solidFill>
                <a:latin typeface="Calibri"/>
              </a:defRPr>
            </a:pPr>
            <a:r>
              <a:t>Department of Electrical Engineering | Power System Analysis | PBL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10789920" y="73152"/>
            <a:ext cx="1097280" cy="685800"/>
          </a:xfrm>
          <a:prstGeom prst="rect">
            <a:avLst/>
          </a:prstGeom>
          <a:solidFill>
            <a:srgbClr val="002D5A"/>
          </a:solidFill>
          <a:ln w="12700">
            <a:solidFill>
              <a:srgbClr val="D4A0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D4A01E"/>
                </a:solidFill>
              </a:defRPr>
            </a:pPr>
            <a:r>
              <a:t>RVCE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4465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BCCDD"/>
                </a:solidFill>
                <a:latin typeface="Calibri"/>
              </a:defRPr>
            </a:pPr>
            <a:r>
              <a:t>RVCE — Metro Grid Digital Twin | PBL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64465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BBCCDD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1005840"/>
            <a:ext cx="2286000" cy="457200"/>
          </a:xfrm>
          <a:prstGeom prst="roundRect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  07. Results — GNN Training</a:t>
            </a:r>
          </a:p>
        </p:txBody>
      </p:sp>
      <p:pic>
        <p:nvPicPr>
          <p:cNvPr id="11" name="Picture 10" descr="training_lo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45920"/>
            <a:ext cx="6400800" cy="249577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58000" y="16459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3D7A"/>
                </a:solidFill>
                <a:latin typeface="Calibri"/>
              </a:defRPr>
            </a:pPr>
            <a:r>
              <a:t>RGATv2 Training (50 epochs)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21031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E293B"/>
                </a:solidFill>
                <a:latin typeface="Calibri"/>
              </a:defRPr>
            </a:pPr>
            <a:r>
              <a:t>Best Val Loss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01200" y="2103120"/>
            <a:ext cx="1645920" cy="32004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59669"/>
                </a:solidFill>
              </a:defRPr>
            </a:pPr>
            <a:r>
              <a:t>1.262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248716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E293B"/>
                </a:solidFill>
                <a:latin typeface="Calibri"/>
              </a:defRPr>
            </a:pPr>
            <a:r>
              <a:t>Val Accuracy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01200" y="2487168"/>
            <a:ext cx="1645920" cy="32004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59669"/>
                </a:solidFill>
              </a:defRPr>
            </a:pPr>
            <a:r>
              <a:t>93.4%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2871215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E293B"/>
                </a:solidFill>
                <a:latin typeface="Calibri"/>
              </a:defRPr>
            </a:pPr>
            <a:r>
              <a:t>F1 Score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601200" y="2871215"/>
            <a:ext cx="1645920" cy="32004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59669"/>
                </a:solidFill>
              </a:defRPr>
            </a:pPr>
            <a:r>
              <a:t>0.151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3255263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E293B"/>
                </a:solidFill>
                <a:latin typeface="Calibri"/>
              </a:defRPr>
            </a:pPr>
            <a:r>
              <a:t>Precision (t=0.60)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01200" y="3255263"/>
            <a:ext cx="1645920" cy="32004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59669"/>
                </a:solidFill>
              </a:defRPr>
            </a:pPr>
            <a:r>
              <a:t>9.5%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3639311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E293B"/>
                </a:solidFill>
                <a:latin typeface="Calibri"/>
              </a:defRPr>
            </a:pPr>
            <a:r>
              <a:t>Recall (t=0.60)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01200" y="3639311"/>
            <a:ext cx="1645920" cy="32004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59669"/>
                </a:solidFill>
              </a:defRPr>
            </a:pPr>
            <a:r>
              <a:t>35.7%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40233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E293B"/>
                </a:solidFill>
                <a:latin typeface="Calibri"/>
              </a:defRPr>
            </a:pPr>
            <a:r>
              <a:t>Recall (t=0.05)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601200" y="4023360"/>
            <a:ext cx="1645920" cy="32004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59669"/>
                </a:solidFill>
              </a:defRPr>
            </a:pPr>
            <a:r>
              <a:t>100%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440740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E293B"/>
                </a:solidFill>
                <a:latin typeface="Calibri"/>
              </a:defRPr>
            </a:pPr>
            <a:r>
              <a:t>Total Parameters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601200" y="4407408"/>
            <a:ext cx="1645920" cy="32004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186,307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0" y="4791456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E293B"/>
                </a:solidFill>
                <a:latin typeface="Calibri"/>
              </a:defRPr>
            </a:pPr>
            <a:r>
              <a:t>Train Samples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601200" y="4791456"/>
            <a:ext cx="1645920" cy="32004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5,100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0" y="5175504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E293B"/>
                </a:solidFill>
                <a:latin typeface="Calibri"/>
              </a:defRPr>
            </a:pPr>
            <a:r>
              <a:t>Val Samples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601200" y="5175504"/>
            <a:ext cx="1645920" cy="32004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900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0" y="555955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E293B"/>
                </a:solidFill>
                <a:latin typeface="Calibri"/>
              </a:defRPr>
            </a:pPr>
            <a:r>
              <a:t>Balancing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601200" y="5559552"/>
            <a:ext cx="1645920" cy="32004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59669"/>
                </a:solidFill>
              </a:defRPr>
            </a:pPr>
            <a:r>
              <a:t>Sampler + pw=2.0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RV College of Engineering® — Bengaluru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411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BCCDD"/>
                </a:solidFill>
                <a:latin typeface="Calibri"/>
              </a:defRPr>
            </a:pPr>
            <a:r>
              <a:t>Department of Electrical Engineering | Power System Analysis | PBL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10789920" y="73152"/>
            <a:ext cx="1097280" cy="685800"/>
          </a:xfrm>
          <a:prstGeom prst="rect">
            <a:avLst/>
          </a:prstGeom>
          <a:solidFill>
            <a:srgbClr val="002D5A"/>
          </a:solidFill>
          <a:ln w="12700">
            <a:solidFill>
              <a:srgbClr val="D4A0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D4A01E"/>
                </a:solidFill>
              </a:defRPr>
            </a:pPr>
            <a:r>
              <a:t>RVCE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4465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BCCDD"/>
                </a:solidFill>
                <a:latin typeface="Calibri"/>
              </a:defRPr>
            </a:pPr>
            <a:r>
              <a:t>RVCE — Metro Grid Digital Twin | PBL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64465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BBCCDD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1005840"/>
            <a:ext cx="2286000" cy="457200"/>
          </a:xfrm>
          <a:prstGeom prst="roundRect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  07. Results — Compliance Audit</a:t>
            </a:r>
          </a:p>
        </p:txBody>
      </p:sp>
      <p:pic>
        <p:nvPicPr>
          <p:cNvPr id="11" name="Picture 10" descr="compli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45920"/>
            <a:ext cx="10592642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RV College of Engineering® — Bengaluru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411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BCCDD"/>
                </a:solidFill>
                <a:latin typeface="Calibri"/>
              </a:defRPr>
            </a:pPr>
            <a:r>
              <a:t>Department of Electrical Engineering | Power System Analysis | PBL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10789920" y="73152"/>
            <a:ext cx="1097280" cy="685800"/>
          </a:xfrm>
          <a:prstGeom prst="rect">
            <a:avLst/>
          </a:prstGeom>
          <a:solidFill>
            <a:srgbClr val="002D5A"/>
          </a:solidFill>
          <a:ln w="12700">
            <a:solidFill>
              <a:srgbClr val="D4A0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D4A01E"/>
                </a:solidFill>
              </a:defRPr>
            </a:pPr>
            <a:r>
              <a:t>RVCE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4465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BCCDD"/>
                </a:solidFill>
                <a:latin typeface="Calibri"/>
              </a:defRPr>
            </a:pPr>
            <a:r>
              <a:t>RVCE — Metro Grid Digital Twin | PBL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64465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BBCCDD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1005840"/>
            <a:ext cx="2286000" cy="457200"/>
          </a:xfrm>
          <a:prstGeom prst="roundRect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  08. Conclusion &amp; Future Work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6459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D7A"/>
                </a:solidFill>
                <a:latin typeface="Calibri"/>
              </a:defRPr>
            </a:pPr>
            <a:r>
              <a:t>Key Achievements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0312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4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Sub-100ms tick execution (20.1ms mean) on IEEE 14-bus</a:t>
            </a:r>
          </a:p>
          <a:p>
            <a:pPr>
              <a:spcAft>
                <a:spcPts val="44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50-bus BESCOM grid model validated against SCADA data</a:t>
            </a:r>
          </a:p>
          <a:p>
            <a:pPr>
              <a:spcAft>
                <a:spcPts val="44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ML ensemble with AUC=0.72, AP=0.92, recall=72.6%</a:t>
            </a:r>
          </a:p>
          <a:p>
            <a:pPr>
              <a:spcAft>
                <a:spcPts val="44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RGATv2 GNN: 93.4% accuracy, 9.5% precision, F1=0.151</a:t>
            </a:r>
          </a:p>
          <a:p>
            <a:pPr>
              <a:spcAft>
                <a:spcPts val="44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NERC CIP + IEGC 2023 compliance at 86.7% and 87.3%</a:t>
            </a:r>
          </a:p>
          <a:p>
            <a:pPr>
              <a:spcAft>
                <a:spcPts val="44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SCADA protocol stack: IEC 61850, DNP3, Modbus (&lt;3ms GOOSE)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5720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D7A"/>
                </a:solidFill>
                <a:latin typeface="Calibri"/>
              </a:defRPr>
            </a:pPr>
            <a:r>
              <a:t>Future Work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029200"/>
            <a:ext cx="5303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4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Integrate GNN inference into production tick pipeline</a:t>
            </a:r>
          </a:p>
          <a:p>
            <a:pPr>
              <a:spcAft>
                <a:spcPts val="44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Transfer learning from IEEE-14 to BESCOM topology</a:t>
            </a:r>
          </a:p>
          <a:p>
            <a:pPr>
              <a:spcAft>
                <a:spcPts val="44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Scale to 500+ bus transmission systems</a:t>
            </a:r>
          </a:p>
          <a:p>
            <a:pPr>
              <a:spcAft>
                <a:spcPts val="44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Real PMU integration with BESCOM SCADA network</a:t>
            </a:r>
          </a:p>
        </p:txBody>
      </p:sp>
      <p:pic>
        <p:nvPicPr>
          <p:cNvPr id="15" name="Picture 14" descr="test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486400" cy="226690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