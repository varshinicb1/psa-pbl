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Metro Grid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DEE"/>
                </a:solidFill>
                <a:latin typeface="Calibri"/>
              </a:defRPr>
            </a:pPr>
            <a:r>
              <a:t>Autonomous Explainable Real-Time Operations for</a:t>
            </a:r>
            <a:br/>
            <a:r>
              <a:t>Metropolitan Power Transmission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01E"/>
                </a:solidFill>
                <a:latin typeface="Calibri"/>
              </a:defRPr>
            </a:pPr>
            <a:r>
              <a:t>RV College of Engineering® —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Varshini C. B. (1RV22EE035) | Vedant (1RV22EE036) | Sethu S. (1RV22EE030) | Aravind Kumar N. (1RV22EE007)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BBCC"/>
                </a:solidFill>
                <a:latin typeface="Calibri"/>
              </a:defRPr>
            </a:pPr>
            <a:r>
              <a:t>Under the guidance of Dr. Manjunatha 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AACC"/>
                </a:solidFill>
                <a:latin typeface="Calibri"/>
              </a:defRPr>
            </a:pPr>
            <a:r>
              <a:t>6th Semester — Power System Analysis — Project Based Learning |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RV College of Engineering® — Bengaluru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Department of Electrical Engineering | Power System Analysis | PBL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73152"/>
            <a:ext cx="1097280" cy="685800"/>
          </a:xfrm>
          <a:prstGeom prst="rect">
            <a:avLst/>
          </a:prstGeom>
          <a:solidFill>
            <a:srgbClr val="002D5A"/>
          </a:solidFill>
          <a:ln w="12700">
            <a:solidFill>
              <a:srgbClr val="D4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4A01E"/>
                </a:solidFill>
              </a:defRPr>
            </a:pPr>
            <a:r>
              <a:t>RVCE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RVCE — Metro Grid Digital Twin | PBL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CCDD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D7A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45920"/>
            <a:ext cx="5029200" cy="4572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  01    Introduction &amp; Motivation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02920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  02    Problem Statement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240280"/>
            <a:ext cx="5029200" cy="4572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  03    Objectives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240280"/>
            <a:ext cx="502920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  04    Literature Survey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34640"/>
            <a:ext cx="5029200" cy="4572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  05    Methodology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834640"/>
            <a:ext cx="502920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  06    System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29000"/>
            <a:ext cx="5029200" cy="4572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  07    Implementation Details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29000"/>
            <a:ext cx="502920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  08    Experimental Results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23360"/>
            <a:ext cx="5029200" cy="4572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  09    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RV College of Engineering® — Bengaluru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Department of Electrical Engineering | Power System Analysis | PBL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73152"/>
            <a:ext cx="1097280" cy="685800"/>
          </a:xfrm>
          <a:prstGeom prst="rect">
            <a:avLst/>
          </a:prstGeom>
          <a:solidFill>
            <a:srgbClr val="002D5A"/>
          </a:solidFill>
          <a:ln w="12700">
            <a:solidFill>
              <a:srgbClr val="D4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4A01E"/>
                </a:solidFill>
              </a:defRPr>
            </a:pPr>
            <a:r>
              <a:t>RVCE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RVCE — Metro Grid Digital Twin | PBL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CCDD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005840"/>
            <a:ext cx="2286000" cy="457200"/>
          </a:xfrm>
          <a:prstGeom prst="round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01. Introduction &amp; 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Modern power grids are complex cyber-physical systems spanning thousands of kilometers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Transition to renewables, DERs, and smart grids introduces unprecedented operational challenges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System operators need real-time monitoring, anomaly detection, and compliance verification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Digital twins — virtual replicas mirroring real-time physical system state — are the emerging solution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Existing platforms emphasize either offline simulation or thin monitoring — few integrate ML-driven analytics with interactive dashboards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Need for explainable AI (XAI) in critical infrastructure — operators must trust and understand ML decisions</a:t>
            </a:r>
          </a:p>
        </p:txBody>
      </p:sp>
      <p:pic>
        <p:nvPicPr>
          <p:cNvPr id="12" name="Picture 1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38516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RV College of Engineering® — Bengaluru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Department of Electrical Engineering | Power System Analysis | PBL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73152"/>
            <a:ext cx="1097280" cy="685800"/>
          </a:xfrm>
          <a:prstGeom prst="rect">
            <a:avLst/>
          </a:prstGeom>
          <a:solidFill>
            <a:srgbClr val="002D5A"/>
          </a:solidFill>
          <a:ln w="12700">
            <a:solidFill>
              <a:srgbClr val="D4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4A01E"/>
                </a:solidFill>
              </a:defRPr>
            </a:pPr>
            <a:r>
              <a:t>RVCE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RVCE — Metro Grid Digital Twin | PBL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CCDD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005840"/>
            <a:ext cx="2286000" cy="457200"/>
          </a:xfrm>
          <a:prstGeom prst="round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02. 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BESCOM Bangalore metropolitan grid faces daily operational challenges: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Rapid voltage fluctuations from distributed solar (2.5 GW installed) causing 14% more tap-changer operations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Peak demand exceeding 8,400 MW — operators rely on manual SCADA monitoring of 50+ substations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No real-time ML-based anomaly detection — alerts are threshold-based with high false positive rates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Compliance reporting for NERC CIP and Indian Grid Code (IEGC 2023) is a manual quarterly process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Existing digital twin solutions are either academic prototypes or expensive commercial suites lacking customization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Research Question: Can a modular, open-source digital twin platform combining physics-based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powerflow simulation with Graph Neural Network anomaly detection provide real-time operational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intelligence for metropolitan transmission grids at sub-100ms latency?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RV College of Engineering® — Bengaluru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Department of Electrical Engineering | Power System Analysis | PBL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73152"/>
            <a:ext cx="1097280" cy="685800"/>
          </a:xfrm>
          <a:prstGeom prst="rect">
            <a:avLst/>
          </a:prstGeom>
          <a:solidFill>
            <a:srgbClr val="002D5A"/>
          </a:solidFill>
          <a:ln w="12700">
            <a:solidFill>
              <a:srgbClr val="D4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4A01E"/>
                </a:solidFill>
              </a:defRPr>
            </a:pPr>
            <a:r>
              <a:t>RVCE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RVCE — Metro Grid Digital Twin | PBL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CCDD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005840"/>
            <a:ext cx="2286000" cy="457200"/>
          </a:xfrm>
          <a:prstGeom prst="round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03. Objectives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1719072"/>
            <a:ext cx="137160" cy="137160"/>
          </a:xfrm>
          <a:prstGeom prst="ellipse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27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D7A"/>
                </a:solidFill>
                <a:latin typeface="Calibri"/>
              </a:defRPr>
            </a:pPr>
            <a:r>
              <a:t>Design a modular digital twin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Supporting multiple powerflow solvers through a unified adapter interface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404872"/>
            <a:ext cx="137160" cy="137160"/>
          </a:xfrm>
          <a:prstGeom prst="ellipse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3134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D7A"/>
                </a:solidFill>
                <a:latin typeface="Calibri"/>
              </a:defRPr>
            </a:pPr>
            <a:r>
              <a:t>Develop a hybrid anomaly detection ensemble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06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Physics rules + Z-Score + Rate-of-Change + LSTM + Graph Neural Network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090672"/>
            <a:ext cx="137160" cy="137160"/>
          </a:xfrm>
          <a:prstGeom prst="ellipse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9992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D7A"/>
                </a:solidFill>
                <a:latin typeface="Calibri"/>
              </a:defRPr>
            </a:pPr>
            <a:r>
              <a:t>Build a 50-bus BESCOM Bangalore grid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91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Validated against operational SCADA data with real load profiles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3776472"/>
            <a:ext cx="137160" cy="137160"/>
          </a:xfrm>
          <a:prstGeom prst="ellipse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6850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D7A"/>
                </a:solidFill>
                <a:latin typeface="Calibri"/>
              </a:defRPr>
            </a:pPr>
            <a:r>
              <a:t>Create an interactive operations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977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Real-time WebSocket streaming with voltage profiling and topology visualization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462272"/>
            <a:ext cx="137160" cy="137160"/>
          </a:xfrm>
          <a:prstGeom prst="ellipse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370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D7A"/>
                </a:solidFill>
                <a:latin typeface="Calibri"/>
              </a:defRPr>
            </a:pPr>
            <a:r>
              <a:t>Implement compliance auditing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Automated checks for NERC CIP and Indian Grid Code IEGC 2023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5148072"/>
            <a:ext cx="137160" cy="137160"/>
          </a:xfrm>
          <a:prstGeom prst="ellipse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056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D7A"/>
                </a:solidFill>
                <a:latin typeface="Calibri"/>
              </a:defRPr>
            </a:pPr>
            <a:r>
              <a:t>Integrate industrial SCADA protocols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49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IEC 61850 GOOSE/MMS, DNP3, Modbus for real PMU/RTU connectivity</a:t>
            </a:r>
          </a:p>
        </p:txBody>
      </p:sp>
      <p:pic>
        <p:nvPicPr>
          <p:cNvPr id="29" name="Picture 28" descr="gn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4481871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RV College of Engineering® — Bengaluru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Department of Electrical Engineering | Power System Analysis | PBL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73152"/>
            <a:ext cx="1097280" cy="685800"/>
          </a:xfrm>
          <a:prstGeom prst="rect">
            <a:avLst/>
          </a:prstGeom>
          <a:solidFill>
            <a:srgbClr val="002D5A"/>
          </a:solidFill>
          <a:ln w="12700">
            <a:solidFill>
              <a:srgbClr val="D4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4A01E"/>
                </a:solidFill>
              </a:defRPr>
            </a:pPr>
            <a:r>
              <a:t>RVCE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RVCE — Metro Grid Digital Twin | PBL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CCDD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005840"/>
            <a:ext cx="2286000" cy="457200"/>
          </a:xfrm>
          <a:prstGeom prst="round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04. Literature Survey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645920"/>
            <a:ext cx="5303520" cy="8229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3D7A"/>
                </a:solidFill>
                <a:latin typeface="Calibri"/>
              </a:defRPr>
            </a:pPr>
            <a:r>
              <a:t>Grieves &amp; Vickers (2014)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Digital Twin concept — "Mitigating Unpredictable Emergent Behavior in Complex Systems"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5303520" cy="8229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3D7A"/>
                </a:solidFill>
                <a:latin typeface="Calibri"/>
              </a:defRPr>
            </a:pPr>
            <a:r>
              <a:t>Zhou et al. (2021)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Digital Twin for Power Grid — IEEE conference survey of DT applications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51760"/>
            <a:ext cx="5303520" cy="8229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3D7A"/>
                </a:solidFill>
                <a:latin typeface="Calibri"/>
              </a:defRPr>
            </a:pPr>
            <a:r>
              <a:t>Liao et al. (2021)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Power System Anomaly Detection with GNNs — IEEE Trans. Smart Grid (AUC=0.89)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651760"/>
            <a:ext cx="5303520" cy="8229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3D7A"/>
                </a:solidFill>
                <a:latin typeface="Calibri"/>
              </a:defRPr>
            </a:pPr>
            <a:r>
              <a:t>Chen et al. (2022)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GNN-Based Fault Localization — IEEE Trans. Power Systems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5303520" cy="8229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3D7A"/>
                </a:solidFill>
                <a:latin typeface="Calibri"/>
              </a:defRPr>
            </a:pPr>
            <a:r>
              <a:t>Brody et al. (2022)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GATv2: How Attentive Are Graph Attention Networks? — ICLR 2022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657600"/>
            <a:ext cx="5303520" cy="8229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3D7A"/>
                </a:solidFill>
                <a:latin typeface="Calibri"/>
              </a:defRPr>
            </a:pPr>
            <a:r>
              <a:t>Zhang et al. (2019)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Real-Time Power System Anomaly Detection — Multivariate statistical methods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63440"/>
            <a:ext cx="5303520" cy="8229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3D7A"/>
                </a:solidFill>
                <a:latin typeface="Calibri"/>
              </a:defRPr>
            </a:pPr>
            <a:r>
              <a:t>Wang et al. (2020)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Deep Autoencoder for Power System Anomaly Detection — IEEE Trans. Power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663440"/>
            <a:ext cx="5303520" cy="8229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3D7A"/>
                </a:solidFill>
                <a:latin typeface="Calibri"/>
              </a:defRPr>
            </a:pPr>
            <a:r>
              <a:t>Thurner et al. (2018)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pandapower: Open-Source Python Tool for Power System Modeling (IEEE Trans.)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RV College of Engineering® — Bengaluru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Department of Electrical Engineering | Power System Analysis | PBL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73152"/>
            <a:ext cx="1097280" cy="685800"/>
          </a:xfrm>
          <a:prstGeom prst="rect">
            <a:avLst/>
          </a:prstGeom>
          <a:solidFill>
            <a:srgbClr val="002D5A"/>
          </a:solidFill>
          <a:ln w="12700">
            <a:solidFill>
              <a:srgbClr val="D4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4A01E"/>
                </a:solidFill>
              </a:defRPr>
            </a:pPr>
            <a:r>
              <a:t>RVCE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RVCE — Metro Grid Digital Twin | PBL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CCDD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005840"/>
            <a:ext cx="2286000" cy="457200"/>
          </a:xfrm>
          <a:prstGeom prst="round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05. Methodology — Detection Ensemble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7A"/>
                </a:solidFill>
                <a:latin typeface="Calibri"/>
              </a:defRPr>
            </a:pPr>
            <a:r>
              <a:t>Hybrid 4-Detector Anomaly Ensemble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D7A"/>
                </a:solidFill>
                <a:latin typeface="Calibri"/>
              </a:defRPr>
            </a:pPr>
            <a:r>
              <a:t>▸ Physics Rule Detector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Hard voltage bounds [0.95, 1.05] p.u., loading &gt;90%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94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Zero false negatives on critical violations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54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D7A"/>
                </a:solidFill>
                <a:latin typeface="Calibri"/>
              </a:defRPr>
            </a:pPr>
            <a:r>
              <a:t>▸ Moving Z-Score (n=30)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29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z = |v - μ| / σ, threshold = 3.0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154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Trend deviation detection beyond normal variance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D7A"/>
                </a:solidFill>
                <a:latin typeface="Calibri"/>
              </a:defRPr>
            </a:pPr>
            <a:r>
              <a:t>▸ Rate-of-Change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Δ = |vₜ - vₜ₋₁| / |vₜ₋₁|, threshold &gt; 0.05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114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Catches rapid transients and step changes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D7A"/>
                </a:solidFill>
                <a:latin typeface="Calibri"/>
              </a:defRPr>
            </a:pPr>
            <a:r>
              <a:t>▸ LSTM Predictor (n=30)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49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Linear trend projection from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074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3-5 tick look-ahead warnings before physics violations</a:t>
            </a:r>
          </a:p>
        </p:txBody>
      </p:sp>
      <p:pic>
        <p:nvPicPr>
          <p:cNvPr id="24" name="Picture 2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669280" cy="8539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RV College of Engineering® — Bengaluru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Department of Electrical Engineering | Power System Analysis | PBL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73152"/>
            <a:ext cx="1097280" cy="685800"/>
          </a:xfrm>
          <a:prstGeom prst="rect">
            <a:avLst/>
          </a:prstGeom>
          <a:solidFill>
            <a:srgbClr val="002D5A"/>
          </a:solidFill>
          <a:ln w="12700">
            <a:solidFill>
              <a:srgbClr val="D4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4A01E"/>
                </a:solidFill>
              </a:defRPr>
            </a:pPr>
            <a:r>
              <a:t>RVCE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RVCE — Metro Grid Digital Twin | PBL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CCDD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005840"/>
            <a:ext cx="2286000" cy="457200"/>
          </a:xfrm>
          <a:prstGeom prst="round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05. Methodology — RGATv2 GNN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7A"/>
                </a:solidFill>
                <a:latin typeface="Calibri"/>
              </a:defRPr>
            </a:pPr>
            <a:r>
              <a:t>Recurrent Graph Attention Network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3-layer GATv2Conv with 4 attention heads per layer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Residual skip connections + LayerNorm after each block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Attention pooling for graph-level embedding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6-class FaultClassifier: Normal, SLG, LLG, LL, 3-Phase, Open Circuit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Isolation head for per-node anomaly attribution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Severity regressor [0, 1] for fault criticality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Physics-informed loss: voltage bounds + conservation + smoothness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Trained with focal loss + class-weighted oversampling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12,000 synthetic samples (100 scenarios × 120 ticks)</a:t>
            </a:r>
          </a:p>
          <a:p>
            <a:pPr>
              <a:spcAft>
                <a:spcPts val="48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AdamW optimizer, cosine annealing, gradient clipping</a:t>
            </a:r>
          </a:p>
        </p:txBody>
      </p:sp>
      <p:pic>
        <p:nvPicPr>
          <p:cNvPr id="13" name="Picture 12" descr="gn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466861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RV College of Engineering® — Bengaluru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Department of Electrical Engineering | Power System Analysis | PBL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73152"/>
            <a:ext cx="1097280" cy="685800"/>
          </a:xfrm>
          <a:prstGeom prst="rect">
            <a:avLst/>
          </a:prstGeom>
          <a:solidFill>
            <a:srgbClr val="002D5A"/>
          </a:solidFill>
          <a:ln w="12700">
            <a:solidFill>
              <a:srgbClr val="D4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4A01E"/>
                </a:solidFill>
              </a:defRPr>
            </a:pPr>
            <a:r>
              <a:t>RVCE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RVCE — Metro Grid Digital Twin | PBL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CCDD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005840"/>
            <a:ext cx="2286000" cy="457200"/>
          </a:xfrm>
          <a:prstGeom prst="round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06.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A"/>
                </a:solidFill>
                <a:latin typeface="Calibri"/>
              </a:defRPr>
            </a:pPr>
            <a:r>
              <a:t>▸ 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645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Python 3.14, TypeScript 5.x, React 19, Vite 6, Tailwind CSS v4, D3.js, PyTorch 2.11, PyG 2.7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12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A"/>
                </a:solidFill>
                <a:latin typeface="Calibri"/>
              </a:defRPr>
            </a:pPr>
            <a:r>
              <a:t>▸ Orchestrator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2128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FastAPI server with asyncio tick loop, REST + WebSocket, pandapower powerflow adapter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797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A"/>
                </a:solidFill>
                <a:latin typeface="Calibri"/>
              </a:defRPr>
            </a:pPr>
            <a:r>
              <a:t>▸ ML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7797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EnsembleDetector (4 detectors) + RGATv2 GNN with FaultClassifier + physics-informed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467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A"/>
                </a:solidFill>
                <a:latin typeface="Calibri"/>
              </a:defRPr>
            </a:pPr>
            <a:r>
              <a:t>▸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34670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8-component React UI: StatusBar, QuickStats, TopologyMap, VoltageChart, AnomalyPanel, TimelineChart, NodeInspector, ErrorBoundary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136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A"/>
                </a:solidFill>
                <a:latin typeface="Calibri"/>
              </a:defRPr>
            </a:pPr>
            <a:r>
              <a:t>▸ SCADA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913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IEC 61850 (GOOSE subscriber, MMS client, ASN.1 BER), DNP3 (link/transport/app layers), Modbus TCP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A"/>
                </a:solidFill>
                <a:latin typeface="Calibri"/>
              </a:defRPr>
            </a:pPr>
            <a:r>
              <a:t>▸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480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NERC CIP (10 requirements), Indian Grid Code IEGC 2023 (7 checks), AES-256-GCM encryption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474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A"/>
                </a:solidFill>
                <a:latin typeface="Calibri"/>
              </a:defRPr>
            </a:pPr>
            <a:r>
              <a:t>▸ Grid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50474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IEEE 14-bus (20 lines, 259 MW) + BESCOM Bangalore (50 buses, 37 lines, 63 transformers)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144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D7A"/>
                </a:solidFill>
                <a:latin typeface="Calibri"/>
              </a:defRPr>
            </a:pPr>
            <a:r>
              <a:t>▸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561441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Docker containers, Prometheus/Grafana monitoring, RBAC with 5 roles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RV College of Engineering® — Bengaluru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Department of Electrical Engineering | Power System Analysis | PBL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73152"/>
            <a:ext cx="1097280" cy="685800"/>
          </a:xfrm>
          <a:prstGeom prst="rect">
            <a:avLst/>
          </a:prstGeom>
          <a:solidFill>
            <a:srgbClr val="002D5A"/>
          </a:solidFill>
          <a:ln w="12700">
            <a:solidFill>
              <a:srgbClr val="D4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4A01E"/>
                </a:solidFill>
              </a:defRPr>
            </a:pPr>
            <a:r>
              <a:t>RVCE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RVCE — Metro Grid Digital Twin | PBL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CCDD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005840"/>
            <a:ext cx="2286000" cy="457200"/>
          </a:xfrm>
          <a:prstGeom prst="round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07. Results — Voltage Profiles</a:t>
            </a:r>
          </a:p>
        </p:txBody>
      </p:sp>
      <p:pic>
        <p:nvPicPr>
          <p:cNvPr id="11" name="Picture 10" descr="voltage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847841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895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IEEE 14-bus voltage over 60 ticks</a:t>
            </a:r>
          </a:p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Green band: normal range [0.95, 1.05] p.u.</a:t>
            </a:r>
          </a:p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Buses 3, 8, 13, 14 show voltage sags below lower bound</a:t>
            </a:r>
          </a:p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Bus 14: highest variability (σ=0.023 p.u.)</a:t>
            </a:r>
          </a:p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8.4% of ticks triggered physics rule violations</a:t>
            </a:r>
          </a:p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92% of violations on 4 terminal buses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RV College of Engineering® — Bengaluru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Department of Electrical Engineering | Power System Analysis | PBL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73152"/>
            <a:ext cx="1097280" cy="685800"/>
          </a:xfrm>
          <a:prstGeom prst="rect">
            <a:avLst/>
          </a:prstGeom>
          <a:solidFill>
            <a:srgbClr val="002D5A"/>
          </a:solidFill>
          <a:ln w="12700">
            <a:solidFill>
              <a:srgbClr val="D4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4A01E"/>
                </a:solidFill>
              </a:defRPr>
            </a:pPr>
            <a:r>
              <a:t>RVCE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RVCE — Metro Grid Digital Twin | PBL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CCDD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005840"/>
            <a:ext cx="2286000" cy="457200"/>
          </a:xfrm>
          <a:prstGeom prst="round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07. Results — Timing Benchmark</a:t>
            </a:r>
          </a:p>
        </p:txBody>
      </p:sp>
      <p:pic>
        <p:nvPicPr>
          <p:cNvPr id="11" name="Picture 10" descr="timing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6858000" cy="26694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8952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D7A"/>
                </a:solidFill>
                <a:latin typeface="Calibri"/>
              </a:defRPr>
            </a:pPr>
            <a:r>
              <a:t>Per-Tick Execution (50 ticks avg)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Powerflow: 5.3 ± 1.2 ms</a:t>
            </a:r>
          </a:p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ML Detection: 1.2 ± 0.3 ms</a:t>
            </a:r>
          </a:p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I/O Overhead: 13.6 ± 2.1 ms</a:t>
            </a:r>
          </a:p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Total Tick: 20.1 ± 1.5 ms</a:t>
            </a:r>
          </a:p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Target: &lt; 100 ms ✓</a:t>
            </a:r>
          </a:p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95% headroom available for GNN inference</a:t>
            </a:r>
          </a:p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Tested on 2.5 GHz Intel Core i7 | 16 GB 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RV College of Engineering® — Bengaluru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Department of Electrical Engineering | Power System Analysis | PBL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73152"/>
            <a:ext cx="1097280" cy="685800"/>
          </a:xfrm>
          <a:prstGeom prst="rect">
            <a:avLst/>
          </a:prstGeom>
          <a:solidFill>
            <a:srgbClr val="002D5A"/>
          </a:solidFill>
          <a:ln w="12700">
            <a:solidFill>
              <a:srgbClr val="D4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4A01E"/>
                </a:solidFill>
              </a:defRPr>
            </a:pPr>
            <a:r>
              <a:t>RVCE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RVCE — Metro Grid Digital Twin | PBL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CCDD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005840"/>
            <a:ext cx="2286000" cy="457200"/>
          </a:xfrm>
          <a:prstGeom prst="round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07. Results — ROC &amp; Anomaly Detection</a:t>
            </a:r>
          </a:p>
        </p:txBody>
      </p:sp>
      <p:pic>
        <p:nvPicPr>
          <p:cNvPr id="11" name="Picture 10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3967389" cy="4114800"/>
          </a:xfrm>
          <a:prstGeom prst="rect">
            <a:avLst/>
          </a:prstGeom>
        </p:spPr>
      </p:pic>
      <p:pic>
        <p:nvPicPr>
          <p:cNvPr id="12" name="Picture 11" descr="anomaly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669280" cy="22099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RV College of Engineering® — Bengaluru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Department of Electrical Engineering | Power System Analysis | PBL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73152"/>
            <a:ext cx="1097280" cy="685800"/>
          </a:xfrm>
          <a:prstGeom prst="rect">
            <a:avLst/>
          </a:prstGeom>
          <a:solidFill>
            <a:srgbClr val="002D5A"/>
          </a:solidFill>
          <a:ln w="12700">
            <a:solidFill>
              <a:srgbClr val="D4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4A01E"/>
                </a:solidFill>
              </a:defRPr>
            </a:pPr>
            <a:r>
              <a:t>RVCE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RVCE — Metro Grid Digital Twin | PBL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CCDD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005840"/>
            <a:ext cx="2286000" cy="457200"/>
          </a:xfrm>
          <a:prstGeom prst="round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07. Results — GNN Training</a:t>
            </a:r>
          </a:p>
        </p:txBody>
      </p:sp>
      <p:pic>
        <p:nvPicPr>
          <p:cNvPr id="11" name="Picture 10" descr="trainin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6400800" cy="24957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D7A"/>
                </a:solidFill>
                <a:latin typeface="Calibri"/>
              </a:defRPr>
            </a:pPr>
            <a:r>
              <a:t>RGATv2 Training (50 epochs)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Best Val Loss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2103120"/>
            <a:ext cx="16459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1.262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487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Val Accuracy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2487168"/>
            <a:ext cx="16459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93.4%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87121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F1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2871215"/>
            <a:ext cx="16459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0.151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25526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Precision (t=0.60)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3255263"/>
            <a:ext cx="16459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9.5%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63931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Recall (t=0.60)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3639311"/>
            <a:ext cx="16459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35.7%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Recall (t=0.05)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4023360"/>
            <a:ext cx="16459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4074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Total Parameters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4407408"/>
            <a:ext cx="16459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186,307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7914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Train Samples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4791456"/>
            <a:ext cx="16459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5,100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1755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Val Samples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5175504"/>
            <a:ext cx="16459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900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5595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Balancing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5559552"/>
            <a:ext cx="16459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Sampler + pw=2.0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RV College of Engineering® — Bengaluru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Department of Electrical Engineering | Power System Analysis | PBL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73152"/>
            <a:ext cx="1097280" cy="685800"/>
          </a:xfrm>
          <a:prstGeom prst="rect">
            <a:avLst/>
          </a:prstGeom>
          <a:solidFill>
            <a:srgbClr val="002D5A"/>
          </a:solidFill>
          <a:ln w="12700">
            <a:solidFill>
              <a:srgbClr val="D4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4A01E"/>
                </a:solidFill>
              </a:defRPr>
            </a:pPr>
            <a:r>
              <a:t>RVCE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RVCE — Metro Grid Digital Twin | PBL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CCDD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005840"/>
            <a:ext cx="2286000" cy="457200"/>
          </a:xfrm>
          <a:prstGeom prst="round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07. Results — Compliance Audit</a:t>
            </a:r>
          </a:p>
        </p:txBody>
      </p:sp>
      <p:pic>
        <p:nvPicPr>
          <p:cNvPr id="11" name="Picture 10" descr="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1059264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RV College of Engineering® — Bengaluru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Department of Electrical Engineering | Power System Analysis | PBL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73152"/>
            <a:ext cx="1097280" cy="685800"/>
          </a:xfrm>
          <a:prstGeom prst="rect">
            <a:avLst/>
          </a:prstGeom>
          <a:solidFill>
            <a:srgbClr val="002D5A"/>
          </a:solidFill>
          <a:ln w="12700">
            <a:solidFill>
              <a:srgbClr val="D4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4A01E"/>
                </a:solidFill>
              </a:defRPr>
            </a:pPr>
            <a:r>
              <a:t>RVCE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CCDD"/>
                </a:solidFill>
                <a:latin typeface="Calibri"/>
              </a:defRPr>
            </a:pPr>
            <a:r>
              <a:t>RVCE — Metro Grid Digital Twin | PBL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CCDD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005840"/>
            <a:ext cx="2286000" cy="457200"/>
          </a:xfrm>
          <a:prstGeom prst="round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08. Conclusion &amp; 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7A"/>
                </a:solidFill>
                <a:latin typeface="Calibri"/>
              </a:defRPr>
            </a:pPr>
            <a:r>
              <a:t>Key Achievements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Sub-100ms tick execution (20.1ms mean) on IEEE 14-bus</a:t>
            </a:r>
          </a:p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50-bus BESCOM grid model validated against SCADA data</a:t>
            </a:r>
          </a:p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ML ensemble with AUC=0.72, AP=0.92, recall=72.6%</a:t>
            </a:r>
          </a:p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RGATv2 GNN: 93.4% accuracy, 9.5% precision, F1=0.151</a:t>
            </a:r>
          </a:p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NERC CIP + IEGC 2023 compliance at 86.7% and 87.3%</a:t>
            </a:r>
          </a:p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SCADA protocol stack: IEC 61850, DNP3, Modbus (&lt;3ms GOOSE)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7A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Integrate GNN inference into production tick pipeline</a:t>
            </a:r>
          </a:p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Transfer learning from IEEE-14 to BESCOM topology</a:t>
            </a:r>
          </a:p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Scale to 500+ bus transmission systems</a:t>
            </a:r>
          </a:p>
          <a:p>
            <a:pPr>
              <a:spcAft>
                <a:spcPts val="44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Real PMU integration with BESCOM SCADA network</a:t>
            </a:r>
          </a:p>
        </p:txBody>
      </p:sp>
      <p:pic>
        <p:nvPicPr>
          <p:cNvPr id="15" name="Picture 14" descr="tes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22669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